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70" r:id="rId4"/>
    <p:sldId id="267" r:id="rId5"/>
    <p:sldId id="271" r:id="rId6"/>
    <p:sldId id="257" r:id="rId7"/>
    <p:sldId id="274" r:id="rId8"/>
    <p:sldId id="259" r:id="rId9"/>
    <p:sldId id="261" r:id="rId10"/>
    <p:sldId id="272" r:id="rId11"/>
    <p:sldId id="268" r:id="rId12"/>
    <p:sldId id="273" r:id="rId13"/>
    <p:sldId id="263" r:id="rId1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1" autoAdjust="0"/>
    <p:restoredTop sz="94660"/>
  </p:normalViewPr>
  <p:slideViewPr>
    <p:cSldViewPr>
      <p:cViewPr varScale="1">
        <p:scale>
          <a:sx n="82" d="100"/>
          <a:sy n="82" d="100"/>
        </p:scale>
        <p:origin x="156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749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1350" y="1441450"/>
            <a:ext cx="8318500" cy="4311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76200"/>
              <a:ext cx="1374248" cy="10667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4495800"/>
              <a:ext cx="1479012" cy="184138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563888" y="3429000"/>
            <a:ext cx="4474538" cy="255454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r>
              <a:rPr lang="en-IN" sz="1800" b="1" dirty="0">
                <a:latin typeface="Times New Roman"/>
                <a:cs typeface="Times New Roman"/>
              </a:rPr>
              <a:t>TEAM ID 14</a:t>
            </a:r>
          </a:p>
          <a:p>
            <a:pPr>
              <a:lnSpc>
                <a:spcPct val="100000"/>
              </a:lnSpc>
              <a:spcBef>
                <a:spcPts val="1260"/>
              </a:spcBef>
            </a:pPr>
            <a:r>
              <a:rPr sz="1800" b="1" dirty="0">
                <a:latin typeface="Times New Roman"/>
                <a:cs typeface="Times New Roman"/>
              </a:rPr>
              <a:t>PROJECT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MEMBER</a:t>
            </a:r>
            <a:r>
              <a:rPr lang="en-US" sz="1800" b="1" spc="-10" dirty="0">
                <a:latin typeface="Times New Roman"/>
                <a:cs typeface="Times New Roman"/>
              </a:rPr>
              <a:t>S:</a:t>
            </a:r>
          </a:p>
          <a:p>
            <a:pPr>
              <a:lnSpc>
                <a:spcPct val="100000"/>
              </a:lnSpc>
              <a:spcBef>
                <a:spcPts val="1260"/>
              </a:spcBef>
            </a:pPr>
            <a:r>
              <a:rPr lang="en-US" sz="1800" b="1" spc="-10" dirty="0">
                <a:latin typeface="Times New Roman"/>
                <a:cs typeface="Times New Roman"/>
              </a:rPr>
              <a:t>       </a:t>
            </a:r>
            <a:r>
              <a:rPr lang="en-US" sz="1800" b="1" spc="-10" dirty="0" err="1">
                <a:latin typeface="Times New Roman"/>
                <a:cs typeface="Times New Roman"/>
              </a:rPr>
              <a:t>Bhavani.J</a:t>
            </a:r>
            <a:r>
              <a:rPr lang="en-US" sz="1800" b="1" spc="-10" dirty="0">
                <a:latin typeface="Times New Roman"/>
                <a:cs typeface="Times New Roman"/>
              </a:rPr>
              <a:t>             24ADR022</a:t>
            </a:r>
          </a:p>
          <a:p>
            <a:pPr>
              <a:lnSpc>
                <a:spcPct val="100000"/>
              </a:lnSpc>
              <a:spcBef>
                <a:spcPts val="1260"/>
              </a:spcBef>
            </a:pPr>
            <a:r>
              <a:rPr lang="en-US" b="1" spc="-10" dirty="0">
                <a:latin typeface="Times New Roman"/>
                <a:cs typeface="Times New Roman"/>
              </a:rPr>
              <a:t>       Gokul </a:t>
            </a:r>
            <a:r>
              <a:rPr lang="en-US" b="1" spc="-10" dirty="0" err="1">
                <a:latin typeface="Times New Roman"/>
                <a:cs typeface="Times New Roman"/>
              </a:rPr>
              <a:t>pranav.N</a:t>
            </a:r>
            <a:r>
              <a:rPr lang="en-US" b="1" spc="-10" dirty="0">
                <a:latin typeface="Times New Roman"/>
                <a:cs typeface="Times New Roman"/>
              </a:rPr>
              <a:t>    24ADR048</a:t>
            </a:r>
          </a:p>
          <a:p>
            <a:pPr>
              <a:lnSpc>
                <a:spcPct val="100000"/>
              </a:lnSpc>
              <a:spcBef>
                <a:spcPts val="1260"/>
              </a:spcBef>
            </a:pPr>
            <a:r>
              <a:rPr lang="en-US" b="1" spc="-10" dirty="0">
                <a:latin typeface="Times New Roman"/>
                <a:cs typeface="Times New Roman"/>
              </a:rPr>
              <a:t>       </a:t>
            </a:r>
            <a:r>
              <a:rPr lang="en-US" b="1" spc="-10" dirty="0" err="1">
                <a:latin typeface="Times New Roman"/>
                <a:cs typeface="Times New Roman"/>
              </a:rPr>
              <a:t>Adhish.E</a:t>
            </a:r>
            <a:r>
              <a:rPr lang="en-US" b="1" spc="-10" dirty="0">
                <a:latin typeface="Times New Roman"/>
                <a:cs typeface="Times New Roman"/>
              </a:rPr>
              <a:t>               24ADR004</a:t>
            </a: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lang="en-US" sz="1800" b="1" spc="-1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619672" y="1602309"/>
            <a:ext cx="771100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dirty="0"/>
              <a:t>REAL-TIME CREDIT CARD FRAUD DETECTION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49447F-BBD4-7595-071A-BDCF1FCD8CD9}"/>
              </a:ext>
            </a:extLst>
          </p:cNvPr>
          <p:cNvSpPr txBox="1"/>
          <p:nvPr/>
        </p:nvSpPr>
        <p:spPr>
          <a:xfrm>
            <a:off x="3347864" y="476672"/>
            <a:ext cx="5643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KONGU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9CF9A-B2D8-A070-BB2D-DC97C6C9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35B17-5F6F-CE4D-D723-EF10D0A6A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576" y="1484784"/>
            <a:ext cx="7975674" cy="4431983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process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transactions daily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fraud detection complex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types include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purchases, identity theft, and card cloning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are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and static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lacking adaptability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treat transactions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ignoring sequence patterns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often occurs as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patterns over multiple transactions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patterns are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constantly evolving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detection difficult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imbalanced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very few fraud cases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detect fraud instantly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for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recall (detect maximum fraud)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false positives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492443"/>
          </a:xfrm>
        </p:spPr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677609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CCA5-61CA-8228-9538-28E6D58F2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639" y="116633"/>
            <a:ext cx="7666355" cy="940262"/>
          </a:xfrm>
        </p:spPr>
        <p:txBody>
          <a:bodyPr/>
          <a:lstStyle/>
          <a:p>
            <a:pPr algn="ctr"/>
            <a:r>
              <a:rPr lang="en-IN" dirty="0"/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DAD816-F8F0-EEA3-99A4-EBDF45BCE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051150"/>
              </p:ext>
            </p:extLst>
          </p:nvPr>
        </p:nvGraphicFramePr>
        <p:xfrm>
          <a:off x="755576" y="582665"/>
          <a:ext cx="8205425" cy="607376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72341">
                  <a:extLst>
                    <a:ext uri="{9D8B030D-6E8A-4147-A177-3AD203B41FA5}">
                      <a16:colId xmlns:a16="http://schemas.microsoft.com/office/drawing/2014/main" val="3623805281"/>
                    </a:ext>
                  </a:extLst>
                </a:gridCol>
                <a:gridCol w="1528059">
                  <a:extLst>
                    <a:ext uri="{9D8B030D-6E8A-4147-A177-3AD203B41FA5}">
                      <a16:colId xmlns:a16="http://schemas.microsoft.com/office/drawing/2014/main" val="2203321113"/>
                    </a:ext>
                  </a:extLst>
                </a:gridCol>
                <a:gridCol w="1538483">
                  <a:extLst>
                    <a:ext uri="{9D8B030D-6E8A-4147-A177-3AD203B41FA5}">
                      <a16:colId xmlns:a16="http://schemas.microsoft.com/office/drawing/2014/main" val="1260652999"/>
                    </a:ext>
                  </a:extLst>
                </a:gridCol>
                <a:gridCol w="1557861">
                  <a:extLst>
                    <a:ext uri="{9D8B030D-6E8A-4147-A177-3AD203B41FA5}">
                      <a16:colId xmlns:a16="http://schemas.microsoft.com/office/drawing/2014/main" val="3787059075"/>
                    </a:ext>
                  </a:extLst>
                </a:gridCol>
                <a:gridCol w="1508681">
                  <a:extLst>
                    <a:ext uri="{9D8B030D-6E8A-4147-A177-3AD203B41FA5}">
                      <a16:colId xmlns:a16="http://schemas.microsoft.com/office/drawing/2014/main" val="1688207025"/>
                    </a:ext>
                  </a:extLst>
                </a:gridCol>
              </a:tblGrid>
              <a:tr h="3976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/>
                        <a:t>Author / Year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/>
                        <a:t>Method Used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 dirty="0"/>
                        <a:t>Key Idea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/>
                        <a:t>Advantages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/>
                        <a:t>Limitations</a:t>
                      </a:r>
                      <a:endParaRPr lang="en-IN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extLst>
                  <a:ext uri="{0D108BD9-81ED-4DB2-BD59-A6C34878D82A}">
                    <a16:rowId xmlns:a16="http://schemas.microsoft.com/office/drawing/2014/main" val="4272264592"/>
                  </a:ext>
                </a:extLst>
              </a:tr>
              <a:tr h="92947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Singh et al., 2024</a:t>
                      </a:r>
                      <a:endParaRPr lang="en-IN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+ </a:t>
                      </a:r>
                      <a:r>
                        <a:rPr lang="en-IN" sz="16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IN" sz="15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for feature extraction,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classification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precision, better performance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 deployment, not fully real-time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extLst>
                  <a:ext uri="{0D108BD9-81ED-4DB2-BD59-A6C34878D82A}">
                    <a16:rowId xmlns:a16="http://schemas.microsoft.com/office/drawing/2014/main" val="670154844"/>
                  </a:ext>
                </a:extLst>
              </a:tr>
              <a:tr h="8753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et al., 2024</a:t>
                      </a:r>
                      <a:endParaRPr lang="it-IT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 Ensemble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forward-backward learning with GRU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latency, complex model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extLst>
                  <a:ext uri="{0D108BD9-81ED-4DB2-BD59-A6C34878D82A}">
                    <a16:rowId xmlns:a16="http://schemas.microsoft.com/office/drawing/2014/main" val="96833640"/>
                  </a:ext>
                </a:extLst>
              </a:tr>
              <a:tr h="6568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et al., 2024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Hyperparameter tuning improves performance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accuracy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heavy computation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extLst>
                  <a:ext uri="{0D108BD9-81ED-4DB2-BD59-A6C34878D82A}">
                    <a16:rowId xmlns:a16="http://schemas.microsoft.com/office/drawing/2014/main" val="2780782430"/>
                  </a:ext>
                </a:extLst>
              </a:tr>
              <a:tr h="769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 et al., 2024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GRU/LSTM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sequential fraud detection</a:t>
                      </a: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Solves imbalance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less powerful for long sequences</a:t>
                      </a:r>
                    </a:p>
                  </a:txBody>
                  <a:tcPr marL="59064" marR="59064" marT="29532" marB="29532" anchor="ctr"/>
                </a:tc>
                <a:extLst>
                  <a:ext uri="{0D108BD9-81ED-4DB2-BD59-A6C34878D82A}">
                    <a16:rowId xmlns:a16="http://schemas.microsoft.com/office/drawing/2014/main" val="3437974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al., 2023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important transactions 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accuracy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complexity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extLst>
                  <a:ext uri="{0D108BD9-81ED-4DB2-BD59-A6C34878D82A}">
                    <a16:rowId xmlns:a16="http://schemas.microsoft.com/office/drawing/2014/main" val="2445113615"/>
                  </a:ext>
                </a:extLst>
              </a:tr>
              <a:tr h="7691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al., 2023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LSTM/GRU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RNN classifies fraud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real-time processing</a:t>
                      </a:r>
                    </a:p>
                  </a:txBody>
                  <a:tcPr marL="59064" marR="59064" marT="29532" marB="295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deployment</a:t>
                      </a:r>
                    </a:p>
                  </a:txBody>
                  <a:tcPr marL="59064" marR="59064" marT="29532" marB="29532" anchor="ctr"/>
                </a:tc>
                <a:extLst>
                  <a:ext uri="{0D108BD9-81ED-4DB2-BD59-A6C34878D82A}">
                    <a16:rowId xmlns:a16="http://schemas.microsoft.com/office/drawing/2014/main" val="1775301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036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7452C-F30B-E581-22F2-938B41D4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3E8B8-99FC-E1A0-E990-BF5B8EF1D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576" y="1412776"/>
            <a:ext cx="8136904" cy="450515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 real-time credit card fraud detection system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 customer transaction sequences instead of individual transactions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 temporal patterns and behavioral changes using deep learning models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compare LSTM, GRU and Transformer architectures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 fraud probability score for each transaction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 high recall (detect maximum fraud cases)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 false positives to avoid inconvenience to customers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 class imbalance using appropriate techniques (weighted loss / focal loss)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 ROC-AUC, Precision-Recall and Confusion Matrix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 scalable and deployment-ready real-time prediction system\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492443"/>
          </a:xfrm>
        </p:spPr>
        <p:txBody>
          <a:bodyPr/>
          <a:lstStyle/>
          <a:p>
            <a:pPr algn="ctr"/>
            <a:r>
              <a:rPr lang="en-IN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23753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32219-BED9-1B54-A671-B158CDA8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492443"/>
          </a:xfrm>
        </p:spPr>
        <p:txBody>
          <a:bodyPr/>
          <a:lstStyle/>
          <a:p>
            <a:pPr algn="ctr"/>
            <a:r>
              <a:rPr lang="en-IN" dirty="0"/>
              <a:t>PROPOSED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D67D4-D13D-B9DB-1BAB-F396F2F4D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5500" y="1613118"/>
            <a:ext cx="7994972" cy="3631763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 customer transaction data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transactions and create sequential sliding windows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 feature engineering (time gap, amount, location, merchant)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 LSTM, GRU  models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 class imbalance using weighted or focal loss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using ROC-AUC, Precision-Recall and Recall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 fraud probability score for each transaction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 real-time fraud detection and alert system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3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43608" y="404664"/>
            <a:ext cx="7666355" cy="492443"/>
          </a:xfrm>
        </p:spPr>
        <p:txBody>
          <a:bodyPr/>
          <a:lstStyle/>
          <a:p>
            <a:pPr algn="ctr"/>
            <a:r>
              <a:rPr lang="en-IN" dirty="0"/>
              <a:t>FLOW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4A5E7E-4B6E-06BF-2AD3-E26350E2C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286" y="1412776"/>
            <a:ext cx="3953427" cy="50027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3A92-8823-5F41-DA01-337547F06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492443"/>
          </a:xfrm>
        </p:spPr>
        <p:txBody>
          <a:bodyPr/>
          <a:lstStyle/>
          <a:p>
            <a:pPr algn="ctr"/>
            <a:r>
              <a:rPr lang="en-IN" dirty="0"/>
              <a:t>DATASET DESCRIPTION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E3C63-5480-B8A7-510E-115C179BE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350" y="1441450"/>
            <a:ext cx="8318500" cy="470898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,customer ,age ,gender ,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zipcodeOri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,Merchant ,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zipMerchant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,category ,amount ,fraud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 Transaction Fraud Detection Dataset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594,643 transactions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 10 attributes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Metrix: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the overall correctness of the model predictions.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how many actual fraud cases are correctly detected.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how many predicted fraud transactions are actually fraud.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Harmonic mean of Precision and Recall.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 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Evaluates the model’s ability to distinguish between fraudulent and genuine</a:t>
            </a:r>
            <a:br>
              <a:rPr lang="en-US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923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492443"/>
          </a:xfrm>
        </p:spPr>
        <p:txBody>
          <a:bodyPr/>
          <a:lstStyle/>
          <a:p>
            <a:r>
              <a:rPr lang="en-IN" dirty="0"/>
              <a:t>TECHNIQUES/ TOOLS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12B21-DD12-1946-6F0A-F7E530D0895B}"/>
              </a:ext>
            </a:extLst>
          </p:cNvPr>
          <p:cNvSpPr txBox="1"/>
          <p:nvPr/>
        </p:nvSpPr>
        <p:spPr>
          <a:xfrm>
            <a:off x="827584" y="1484784"/>
            <a:ext cx="76663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342900" lvl="2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Intel i5 / i7 or higher</a:t>
            </a:r>
          </a:p>
          <a:p>
            <a:pPr marL="342900" lvl="2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Minimum 8 GB (16 GB recommended)</a:t>
            </a:r>
          </a:p>
          <a:p>
            <a:pPr marL="342900" lvl="2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256 GB SSD or higher</a:t>
            </a:r>
          </a:p>
          <a:p>
            <a:pPr marL="342900" lvl="2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(Optional):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NVIDIA GPU (for faster deep learning training)</a:t>
            </a:r>
          </a:p>
          <a:p>
            <a:pPr marL="342900" lvl="2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Windows / Linux / macOS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Python (3.8 or above)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/ Google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VS Code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Pandas,Scikit-learn,TensorFlow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492443"/>
          </a:xfrm>
        </p:spPr>
        <p:txBody>
          <a:bodyPr/>
          <a:lstStyle/>
          <a:p>
            <a:pPr algn="ctr"/>
            <a:r>
              <a:rPr lang="en-IN" dirty="0"/>
              <a:t>MODULE DESCRIPTION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1E044F-1A0F-5CE2-7E27-F49CC0162DB0}"/>
              </a:ext>
            </a:extLst>
          </p:cNvPr>
          <p:cNvSpPr txBox="1"/>
          <p:nvPr/>
        </p:nvSpPr>
        <p:spPr>
          <a:xfrm>
            <a:off x="827585" y="1412776"/>
            <a:ext cx="7992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Gather customer and transaction data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Clean, encode and normalize data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Extract patterns like time gap and spending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Generation: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ordered transaction sequences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Train LSTM, GRU, Transformer models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Measure performance using key metrics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Generate fraud probability for new transactions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System: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Flag and notify suspicious transactions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92AE7-A99C-12A5-C6E9-AB1E58ABD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88" y="132740"/>
            <a:ext cx="7666355" cy="492443"/>
          </a:xfrm>
        </p:spPr>
        <p:txBody>
          <a:bodyPr/>
          <a:lstStyle/>
          <a:p>
            <a:pPr algn="ctr"/>
            <a:r>
              <a:rPr lang="en-IN" dirty="0"/>
              <a:t>SCREENSHOT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43B72-A0C9-B80E-F407-6703FF2016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032097"/>
            <a:ext cx="3456384" cy="2448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5EAD9C-5F96-13DD-9B25-949CB88F76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593653"/>
            <a:ext cx="5760640" cy="30243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929B47-EE38-29B0-0926-F56B14A993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1032097"/>
            <a:ext cx="4608512" cy="244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90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0199B-58D3-BC0B-D8B0-D826A85B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492443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0E43C-1F39-C25A-B2C5-BD39DC618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350" y="1441450"/>
            <a:ext cx="8318500" cy="443582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models improve fraud detection by capturing transaction patterns over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LSTM, GRU  effectively identify complex fraud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achieves high recall, detecting maximum fraud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 false positives, improving customer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 real-time fraud prediction and alert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effective than traditional rule-based and static ML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banks reduce financial losses and enhance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 scalable and deployment-ready solution</a:t>
            </a:r>
          </a:p>
        </p:txBody>
      </p:sp>
    </p:spTree>
    <p:extLst>
      <p:ext uri="{BB962C8B-B14F-4D97-AF65-F5344CB8AC3E}">
        <p14:creationId xmlns:p14="http://schemas.microsoft.com/office/powerpoint/2010/main" val="21289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30E6-05C5-2054-8544-B95964C5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639" y="564451"/>
            <a:ext cx="7666355" cy="492443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FDB5F-D167-9913-09E0-C6BB58C9F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350" y="1441450"/>
            <a:ext cx="8318500" cy="360098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Bhattacharyya, S., Jha, S.,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Tharakunnel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&amp; Westland, J. C. (2011).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for credit card fraud: A comparative study. Decision Support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Pozzolo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Caelen, O., Johnson, R. A., &amp; Bontempi, G. (2015).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Calibrating Probability with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Undersampling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Unbalanced Classification. IEEE Symposium on Computational Intelligence.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Jurgovsky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Granitzer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Ziegler, K., et al. (2018).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classification for credit-card fraud detection. Expert Systems with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Roy, A., Sun, J., Mahoney, M., et al. (2018).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detecting fraud in credit card transactions. IEEE Big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Vaswani, A., et al. (2017).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Is All You Need. Advances in Neural Information Processing Systems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3902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2209800"/>
            <a:ext cx="4060190" cy="958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100" b="0" i="1" spc="-65" dirty="0">
                <a:latin typeface="Times New Roman"/>
                <a:cs typeface="Times New Roman"/>
              </a:rPr>
              <a:t>THANK</a:t>
            </a:r>
            <a:r>
              <a:rPr sz="6100" b="0" i="1" spc="-290" dirty="0">
                <a:latin typeface="Times New Roman"/>
                <a:cs typeface="Times New Roman"/>
              </a:rPr>
              <a:t> </a:t>
            </a:r>
            <a:r>
              <a:rPr sz="6100" b="0" i="1" spc="-375" dirty="0">
                <a:latin typeface="Times New Roman"/>
                <a:cs typeface="Times New Roman"/>
              </a:rPr>
              <a:t>YOU</a:t>
            </a:r>
            <a:endParaRPr sz="6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958</TotalTime>
  <Words>899</Words>
  <Application>Microsoft Office PowerPoint</Application>
  <PresentationFormat>On-screen Show (4:3)</PresentationFormat>
  <Paragraphs>127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REAL-TIME CREDIT CARD FRAUD DETECTION</vt:lpstr>
      <vt:lpstr>PROBLEM STATEMENT</vt:lpstr>
      <vt:lpstr>LITERATURE SURVEY</vt:lpstr>
      <vt:lpstr>OBJECTIVES</vt:lpstr>
      <vt:lpstr>PROPOSED WORK</vt:lpstr>
      <vt:lpstr>FLOW DIAGRAM</vt:lpstr>
      <vt:lpstr>DATASET DESCRIPTION </vt:lpstr>
      <vt:lpstr>TECHNIQUES/ TOOLS USED</vt:lpstr>
      <vt:lpstr>MODULE DESCRIPTION</vt:lpstr>
      <vt:lpstr>SCREENSHOT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ppt.pptx</dc:title>
  <dc:creator>Lenovo</dc:creator>
  <cp:lastModifiedBy>bhavani j</cp:lastModifiedBy>
  <cp:revision>32</cp:revision>
  <dcterms:created xsi:type="dcterms:W3CDTF">2024-09-25T05:56:54Z</dcterms:created>
  <dcterms:modified xsi:type="dcterms:W3CDTF">2026-05-27T11:45:43Z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